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ORCA technical stack and flow. Emphasize that LLMs interpret and explain retrieved evidence; deterministic safety rules control final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500" b="1">
                <a:solidFill>
                  <a:srgbClr val="1F4369"/>
                </a:solidFill>
                <a:latin typeface="Aptos"/>
              </a:rPr>
              <a:t>ORCA — 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02920"/>
            <a:ext cx="11521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07E78"/>
                </a:solidFill>
                <a:latin typeface="Aptos"/>
              </a:rPr>
              <a:t>SIH26176 | Marine Ecosystem Reasoning with Collaborative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868680"/>
            <a:ext cx="1325880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96112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6F4F99"/>
                </a:solidFill>
                <a:latin typeface="Aptos"/>
              </a:rPr>
              <a:t>TECH UDAAAN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7000" y="868680"/>
            <a:ext cx="1581912" cy="3474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96112"/>
            <a:ext cx="1490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007E78"/>
                </a:solidFill>
                <a:latin typeface="Aptos"/>
              </a:rPr>
              <a:t>SOFTWARE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1353312"/>
            <a:ext cx="11686032" cy="4919472"/>
          </a:xfrm>
          <a:prstGeom prst="roundRect">
            <a:avLst/>
          </a:prstGeom>
          <a:noFill/>
          <a:ln w="13970">
            <a:solidFill>
              <a:srgbClr val="64787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2057400" cy="1984248"/>
          </a:xfrm>
          <a:prstGeom prst="roundRect">
            <a:avLst/>
          </a:prstGeom>
          <a:solidFill>
            <a:srgbClr val="F2F7F8"/>
          </a:solidFill>
          <a:ln w="10160">
            <a:solidFill>
              <a:srgbClr val="CD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" y="1673352"/>
            <a:ext cx="310896" cy="310896"/>
          </a:xfrm>
          <a:prstGeom prst="ellipse">
            <a:avLst/>
          </a:prstGeom>
          <a:solidFill>
            <a:srgbClr val="366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82496"/>
            <a:ext cx="3108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645920"/>
            <a:ext cx="14447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1F4369"/>
                </a:solidFill>
                <a:latin typeface="Aptos"/>
              </a:rPr>
              <a:t>USER EXPERIENCE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2121408"/>
            <a:ext cx="1837943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" y="2121408"/>
            <a:ext cx="54864" cy="566928"/>
          </a:xfrm>
          <a:prstGeom prst="rect">
            <a:avLst/>
          </a:prstGeom>
          <a:solidFill>
            <a:srgbClr val="366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2194560"/>
            <a:ext cx="163677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React / Next.js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2450591"/>
            <a:ext cx="1636775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Responsive dashboard
Chat + multilingual UI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2779776"/>
            <a:ext cx="1837943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" y="2779776"/>
            <a:ext cx="54864" cy="566928"/>
          </a:xfrm>
          <a:prstGeom prst="rect">
            <a:avLst/>
          </a:prstGeom>
          <a:solidFill>
            <a:srgbClr val="366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2852928"/>
            <a:ext cx="163677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Leaflet / Mapbox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3108960"/>
            <a:ext cx="1636775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PFZ map layers
Risk visualization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1572768"/>
            <a:ext cx="2057400" cy="1984248"/>
          </a:xfrm>
          <a:prstGeom prst="roundRect">
            <a:avLst/>
          </a:prstGeom>
          <a:solidFill>
            <a:srgbClr val="F2F7F8"/>
          </a:solidFill>
          <a:ln w="10160">
            <a:solidFill>
              <a:srgbClr val="CD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880360" y="1673352"/>
            <a:ext cx="310896" cy="310896"/>
          </a:xfrm>
          <a:prstGeom prst="ellipse">
            <a:avLst/>
          </a:prstGeom>
          <a:solidFill>
            <a:srgbClr val="E2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0360" y="1682496"/>
            <a:ext cx="3108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1645920"/>
            <a:ext cx="14447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1F4369"/>
                </a:solidFill>
                <a:latin typeface="Aptos"/>
              </a:rPr>
              <a:t>API &amp; 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98648" y="2121408"/>
            <a:ext cx="1837943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8648" y="2121408"/>
            <a:ext cx="54864" cy="566928"/>
          </a:xfrm>
          <a:prstGeom prst="rect">
            <a:avLst/>
          </a:prstGeom>
          <a:solidFill>
            <a:srgbClr val="E2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08376" y="2194560"/>
            <a:ext cx="163677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FastAPI (Python)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8376" y="2450591"/>
            <a:ext cx="1636775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REST + WebSocket API
Request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98648" y="2779776"/>
            <a:ext cx="1837943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98648" y="2779776"/>
            <a:ext cx="54864" cy="566928"/>
          </a:xfrm>
          <a:prstGeom prst="rect">
            <a:avLst/>
          </a:prstGeom>
          <a:solidFill>
            <a:srgbClr val="E2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08376" y="2852928"/>
            <a:ext cx="163677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JWT + bcrypt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08376" y="3108960"/>
            <a:ext cx="1636775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Role-based access
Secure sessions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1572768"/>
            <a:ext cx="2057400" cy="1984248"/>
          </a:xfrm>
          <a:prstGeom prst="roundRect">
            <a:avLst/>
          </a:prstGeom>
          <a:solidFill>
            <a:srgbClr val="F2F7F8"/>
          </a:solidFill>
          <a:ln w="10160">
            <a:solidFill>
              <a:srgbClr val="CD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66359" y="1673352"/>
            <a:ext cx="310896" cy="310896"/>
          </a:xfrm>
          <a:prstGeom prst="ellipse">
            <a:avLst/>
          </a:prstGeom>
          <a:solidFill>
            <a:srgbClr val="00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59" y="1682496"/>
            <a:ext cx="3108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0408" y="1645920"/>
            <a:ext cx="14447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1F4369"/>
                </a:solidFill>
                <a:latin typeface="Aptos"/>
              </a:rPr>
              <a:t>AGENT ORCHESTRATION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84648" y="2121408"/>
            <a:ext cx="1837943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184648" y="2121408"/>
            <a:ext cx="54864" cy="566928"/>
          </a:xfrm>
          <a:prstGeom prst="rect">
            <a:avLst/>
          </a:prstGeom>
          <a:solidFill>
            <a:srgbClr val="00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94376" y="2194560"/>
            <a:ext cx="163677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LangGraph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94376" y="2450591"/>
            <a:ext cx="1636775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Planner + state graph
Parallel tool calls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84648" y="2779776"/>
            <a:ext cx="1837943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84648" y="2779776"/>
            <a:ext cx="54864" cy="566928"/>
          </a:xfrm>
          <a:prstGeom prst="rect">
            <a:avLst/>
          </a:prstGeom>
          <a:solidFill>
            <a:srgbClr val="00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94376" y="2852928"/>
            <a:ext cx="163677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Pydantic schemas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94376" y="3108960"/>
            <a:ext cx="1636775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Typed agent messages
No free-form chaining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60920" y="1572768"/>
            <a:ext cx="2057400" cy="1984248"/>
          </a:xfrm>
          <a:prstGeom prst="roundRect">
            <a:avLst/>
          </a:prstGeom>
          <a:solidFill>
            <a:srgbClr val="F2F7F8"/>
          </a:solidFill>
          <a:ln w="10160">
            <a:solidFill>
              <a:srgbClr val="CD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452360" y="1673352"/>
            <a:ext cx="310896" cy="310896"/>
          </a:xfrm>
          <a:prstGeom prst="ellipse">
            <a:avLst/>
          </a:prstGeom>
          <a:solidFill>
            <a:srgbClr val="177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52360" y="1682496"/>
            <a:ext cx="3108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36408" y="1645920"/>
            <a:ext cx="14447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1F4369"/>
                </a:solidFill>
                <a:latin typeface="Aptos"/>
              </a:rPr>
              <a:t>SPECIALIZED AGENTS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70648" y="2121408"/>
            <a:ext cx="1837943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70648" y="2121408"/>
            <a:ext cx="54864" cy="475488"/>
          </a:xfrm>
          <a:prstGeom prst="rect">
            <a:avLst/>
          </a:prstGeom>
          <a:solidFill>
            <a:srgbClr val="177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0375" y="2194560"/>
            <a:ext cx="163677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Marine / PFZ 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0375" y="2450591"/>
            <a:ext cx="1636775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INCOIS: SST, chlorophyll
PFZ advisories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70648" y="2688336"/>
            <a:ext cx="1837943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70648" y="2688336"/>
            <a:ext cx="54864" cy="475488"/>
          </a:xfrm>
          <a:prstGeom prst="rect">
            <a:avLst/>
          </a:prstGeom>
          <a:solidFill>
            <a:srgbClr val="177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0375" y="2761488"/>
            <a:ext cx="163677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Weather &amp; Safety 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0375" y="3017520"/>
            <a:ext cx="1636775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Wind, waves, tides
Risk features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70648" y="3255264"/>
            <a:ext cx="1837943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70648" y="3255264"/>
            <a:ext cx="54864" cy="475488"/>
          </a:xfrm>
          <a:prstGeom prst="rect">
            <a:avLst/>
          </a:prstGeom>
          <a:solidFill>
            <a:srgbClr val="177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0375" y="3328416"/>
            <a:ext cx="163677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Geo Agent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0375" y="3584448"/>
            <a:ext cx="1636775" cy="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Geocoding, distance
Boundary checks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46920" y="1572768"/>
            <a:ext cx="2057400" cy="1984248"/>
          </a:xfrm>
          <a:prstGeom prst="roundRect">
            <a:avLst/>
          </a:prstGeom>
          <a:solidFill>
            <a:srgbClr val="F2F7F8"/>
          </a:solidFill>
          <a:ln w="10160">
            <a:solidFill>
              <a:srgbClr val="CD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738360" y="1673352"/>
            <a:ext cx="310896" cy="310896"/>
          </a:xfrm>
          <a:prstGeom prst="ellipse">
            <a:avLst/>
          </a:prstGeom>
          <a:solidFill>
            <a:srgbClr val="6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38360" y="1682496"/>
            <a:ext cx="31089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122408" y="1645920"/>
            <a:ext cx="14447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1F4369"/>
                </a:solidFill>
                <a:latin typeface="Aptos"/>
              </a:rPr>
              <a:t>ANSWER &amp; EVIDENCE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56648" y="2121408"/>
            <a:ext cx="1837943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56648" y="2121408"/>
            <a:ext cx="54864" cy="566928"/>
          </a:xfrm>
          <a:prstGeom prst="rect">
            <a:avLst/>
          </a:prstGeom>
          <a:solidFill>
            <a:srgbClr val="6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866376" y="2194560"/>
            <a:ext cx="163677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Synthesis Agent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66376" y="2450591"/>
            <a:ext cx="1636775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Go / caution / no-go
Explainable rationale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56648" y="2779776"/>
            <a:ext cx="1837943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756648" y="2779776"/>
            <a:ext cx="54864" cy="566928"/>
          </a:xfrm>
          <a:prstGeom prst="rect">
            <a:avLst/>
          </a:prstGeom>
          <a:solidFill>
            <a:srgbClr val="6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66376" y="2852928"/>
            <a:ext cx="1636775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Evidence UI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866376" y="3108960"/>
            <a:ext cx="1636775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Sources, timestamps
Confidence + map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560320" y="2560320"/>
            <a:ext cx="210312" cy="0"/>
          </a:xfrm>
          <a:prstGeom prst="line">
            <a:avLst/>
          </a:prstGeom>
          <a:ln w="21590">
            <a:solidFill>
              <a:srgbClr val="1F4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846320" y="2560320"/>
            <a:ext cx="210312" cy="0"/>
          </a:xfrm>
          <a:prstGeom prst="line">
            <a:avLst/>
          </a:prstGeom>
          <a:ln w="21590">
            <a:solidFill>
              <a:srgbClr val="1F4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132320" y="2560320"/>
            <a:ext cx="210311" cy="0"/>
          </a:xfrm>
          <a:prstGeom prst="line">
            <a:avLst/>
          </a:prstGeom>
          <a:ln w="21590">
            <a:solidFill>
              <a:srgbClr val="1F4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9418320" y="2560320"/>
            <a:ext cx="210312" cy="0"/>
          </a:xfrm>
          <a:prstGeom prst="line">
            <a:avLst/>
          </a:prstGeom>
          <a:ln w="21590">
            <a:solidFill>
              <a:srgbClr val="1F43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502920" y="3886200"/>
            <a:ext cx="11201400" cy="1965960"/>
          </a:xfrm>
          <a:prstGeom prst="roundRect">
            <a:avLst/>
          </a:prstGeom>
          <a:solidFill>
            <a:srgbClr val="F8FAFA"/>
          </a:solidFill>
          <a:ln w="10160">
            <a:solidFill>
              <a:srgbClr val="C3D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3232" y="3986784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F4369"/>
                </a:solidFill>
                <a:latin typeface="Aptos"/>
              </a:rPr>
              <a:t>DATA, MEMORY &amp; OPERATIONS LAYER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" y="4343400"/>
            <a:ext cx="17830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" y="4343400"/>
            <a:ext cx="54864" cy="1188720"/>
          </a:xfrm>
          <a:prstGeom prst="rect">
            <a:avLst/>
          </a:prstGeom>
          <a:solidFill>
            <a:srgbClr val="366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8" y="4416552"/>
            <a:ext cx="15819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Official Data Connectors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" y="4672584"/>
            <a:ext cx="1581912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INCOIS PFZ + OSF
IMD weather / tides
Satellite products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063240" y="4343400"/>
            <a:ext cx="17830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063240" y="4343400"/>
            <a:ext cx="54864" cy="1188720"/>
          </a:xfrm>
          <a:prstGeom prst="rect">
            <a:avLst/>
          </a:prstGeom>
          <a:solidFill>
            <a:srgbClr val="E2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72968" y="4416552"/>
            <a:ext cx="15819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Geo &amp; Risk Engine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72968" y="4672584"/>
            <a:ext cx="1581912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GeoPandas + Shapely
Rule-based thresholds
Safety policy versioning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394960" y="4343400"/>
            <a:ext cx="17830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394960" y="4343400"/>
            <a:ext cx="54864" cy="1188720"/>
          </a:xfrm>
          <a:prstGeom prst="rect">
            <a:avLst/>
          </a:prstGeom>
          <a:solidFill>
            <a:srgbClr val="00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504688" y="4416552"/>
            <a:ext cx="15819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Storage &amp; Cache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04688" y="4672584"/>
            <a:ext cx="1581912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PostgreSQL + PostGIS
Redis TTL cache
Raw response snapshots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726679" y="4343400"/>
            <a:ext cx="17830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26679" y="4343400"/>
            <a:ext cx="54864" cy="1188720"/>
          </a:xfrm>
          <a:prstGeom prst="rect">
            <a:avLst/>
          </a:prstGeom>
          <a:solidFill>
            <a:srgbClr val="6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836407" y="4416552"/>
            <a:ext cx="15819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Grounding &amp; Memory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36407" y="4672584"/>
            <a:ext cx="1581912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FAISS / pgvector
Source metadata + freshness
Conversation context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058400" y="4343400"/>
            <a:ext cx="178308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058400" y="4343400"/>
            <a:ext cx="54864" cy="1188720"/>
          </a:xfrm>
          <a:prstGeom prst="rect">
            <a:avLst/>
          </a:prstGeom>
          <a:solidFill>
            <a:srgbClr val="177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68128" y="4416552"/>
            <a:ext cx="15819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1F4369"/>
                </a:solidFill>
                <a:latin typeface="Aptos"/>
              </a:rPr>
              <a:t>Observability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168128" y="4672584"/>
            <a:ext cx="1581912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5C686E"/>
                </a:solidFill>
                <a:latin typeface="Aptos"/>
              </a:rPr>
              <a:t>Agent trace timeline
Structured JSON logs
Health + fallback states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508760" y="3566160"/>
            <a:ext cx="0" cy="749808"/>
          </a:xfrm>
          <a:prstGeom prst="line">
            <a:avLst/>
          </a:prstGeom>
          <a:ln w="12700">
            <a:solidFill>
              <a:srgbClr val="5C6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840480" y="3566160"/>
            <a:ext cx="0" cy="749808"/>
          </a:xfrm>
          <a:prstGeom prst="line">
            <a:avLst/>
          </a:prstGeom>
          <a:ln w="12700">
            <a:solidFill>
              <a:srgbClr val="5C6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6172200" y="3566160"/>
            <a:ext cx="0" cy="749808"/>
          </a:xfrm>
          <a:prstGeom prst="line">
            <a:avLst/>
          </a:prstGeom>
          <a:ln w="12700">
            <a:solidFill>
              <a:srgbClr val="5C6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8503920" y="3566160"/>
            <a:ext cx="0" cy="749808"/>
          </a:xfrm>
          <a:prstGeom prst="line">
            <a:avLst/>
          </a:prstGeom>
          <a:ln w="12700">
            <a:solidFill>
              <a:srgbClr val="5C6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835640" y="3566160"/>
            <a:ext cx="0" cy="749808"/>
          </a:xfrm>
          <a:prstGeom prst="line">
            <a:avLst/>
          </a:prstGeom>
          <a:ln w="12700">
            <a:solidFill>
              <a:srgbClr val="5C68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ounded Rectangle 103"/>
          <p:cNvSpPr/>
          <p:nvPr/>
        </p:nvSpPr>
        <p:spPr>
          <a:xfrm>
            <a:off x="640080" y="6080760"/>
            <a:ext cx="10927080" cy="292608"/>
          </a:xfrm>
          <a:prstGeom prst="roundRect">
            <a:avLst/>
          </a:prstGeom>
          <a:solidFill>
            <a:srgbClr val="1F4369"/>
          </a:solidFill>
          <a:ln w="10160">
            <a:solidFill>
              <a:srgbClr val="1F4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49808" y="6108192"/>
            <a:ext cx="10698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ptos"/>
              </a:rPr>
              <a:t>FLOW  Query → API validation → LangGraph plan → parallel agents → deterministic risk engine → grounded synthesis → evidence-backed response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50" b="0">
                <a:solidFill>
                  <a:srgbClr val="5C686E"/>
                </a:solidFill>
                <a:latin typeface="Aptos"/>
              </a:rPr>
              <a:t>Dockerized services  |  Async tool calls  |  Every recommendation carries source, timestamp, freshness and confidence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